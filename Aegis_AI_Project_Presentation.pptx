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384048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/ ML &amp; CYBERSECURITY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Calibri"/>
              </a:defRPr>
            </a:pPr>
            <a:r>
              <a:t>AEGIS AI</a:t>
            </a:r>
          </a:p>
          <a:p>
            <a:pPr>
              <a:spcBef>
                <a:spcPts val="600"/>
              </a:spcBef>
              <a:defRPr sz="2400" b="1">
                <a:solidFill>
                  <a:srgbClr val="F8FAFC"/>
                </a:solidFill>
                <a:latin typeface="Calibri"/>
              </a:defRPr>
            </a:pPr>
            <a:r>
              <a:t>AI-Powered Behavioral Anomaly Detection &amp; Threat Classification Engine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Enterprise-Grade Decoupled Two-Stage Machine Learning for Near Real-Time Intrusion Discovery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840480"/>
            <a:ext cx="22860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39" y="3977640"/>
            <a:ext cx="20116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8BDF8"/>
                </a:solidFill>
                <a:latin typeface="Calibri"/>
              </a:defRPr>
            </a:pPr>
            <a:r>
              <a:t>95.36%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System Accuracy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Held-out test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840480"/>
            <a:ext cx="22860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3977640"/>
            <a:ext cx="20116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B981"/>
                </a:solidFill>
                <a:latin typeface="Calibri"/>
              </a:defRPr>
            </a:pPr>
            <a:r>
              <a:t>0.9734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Stage-1 ROC-AUC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2.45% False Positive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22860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977640"/>
            <a:ext cx="20116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8BDF8"/>
                </a:solidFill>
                <a:latin typeface="Calibri"/>
              </a:defRPr>
            </a:pPr>
            <a:r>
              <a:t>0% Overlap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Zero Data Leakage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Strict entity grouping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39" y="3840480"/>
            <a:ext cx="22860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399" y="3977640"/>
            <a:ext cx="20116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B981"/>
                </a:solidFill>
                <a:latin typeface="Calibri"/>
              </a:defRPr>
            </a:pPr>
            <a:r>
              <a:t>&lt; 4.2 ms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Streaming Latency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Real-time 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394960"/>
            <a:ext cx="9966960" cy="822960"/>
          </a:xfrm>
          <a:prstGeom prst="roundRect">
            <a:avLst/>
          </a:prstGeom>
          <a:solidFill>
            <a:srgbClr val="152138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4406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Calibri"/>
              </a:defRPr>
            </a:pPr>
            <a:r>
              <a:t>Presenter: Venkata Abhinav Kumar Gupta Gunda  |  Registration ID: 23BCE1037</a:t>
            </a:r>
          </a:p>
          <a:p>
            <a:pPr>
              <a:defRPr sz="1050">
                <a:solidFill>
                  <a:srgbClr val="38BDF8"/>
                </a:solidFill>
                <a:latin typeface="Calibri"/>
              </a:defRPr>
            </a:pPr>
            <a:r>
              <a:t>GitHub: github.com/abhinav260506/Behavioral-Anomaly-Detection-  |  Stack: Python, PyTorch, XGBoost,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F2FE"/>
                </a:solidFill>
                <a:latin typeface="Calibri"/>
              </a:defRPr>
            </a:pPr>
            <a:r>
              <a:t>THE CYBERSECURITY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Problem Statement &amp; Industry Bottlenecks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Calibri"/>
              </a:defRPr>
            </a:pPr>
            <a:r>
              <a:t>Why traditional rule-based and signature-matching SIEM systems fail in modern enterprises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0632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Calibri"/>
              </a:defRPr>
            </a:pPr>
            <a:r>
              <a:t>Legacy SIEM Shortcomings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  <a:latin typeface="Calibri"/>
              </a:rPr>
              <a:t>Static Rule Bypass: </a:t>
            </a:r>
            <a:r>
              <a:rPr sz="1050">
                <a:solidFill>
                  <a:srgbClr val="94A3B8"/>
                </a:solidFill>
                <a:latin typeface="Calibri"/>
              </a:rPr>
              <a:t>Attackers bypass fixed thresholds (e.g. 'fail &gt; 5 logins') using low-and-slow rate-limited probes.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  <a:latin typeface="Calibri"/>
              </a:rPr>
              <a:t>Blind to Zero-Days: </a:t>
            </a:r>
            <a:r>
              <a:rPr sz="1050">
                <a:solidFill>
                  <a:srgbClr val="94A3B8"/>
                </a:solidFill>
                <a:latin typeface="Calibri"/>
              </a:rPr>
              <a:t>Hash/signature matching is completely blind to novel exploits, stolen valid tokens, and living-off-the-land commands.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  <a:latin typeface="Calibri"/>
              </a:rPr>
              <a:t>No Entity Context: </a:t>
            </a:r>
            <a:r>
              <a:rPr sz="1050">
                <a:solidFill>
                  <a:srgbClr val="94A3B8"/>
                </a:solidFill>
                <a:latin typeface="Calibri"/>
              </a:rPr>
              <a:t>Treats access logs as isolated rows without tracking user identity baselines, device fingerprints, or resource 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3756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0632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Machine Learning Hurdles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  <a:latin typeface="Calibri"/>
              </a:rPr>
              <a:t>Extreme Class Imbalance: </a:t>
            </a:r>
            <a:r>
              <a:rPr sz="1050">
                <a:solidFill>
                  <a:srgbClr val="94A3B8"/>
                </a:solidFill>
                <a:latin typeface="Calibri"/>
              </a:rPr>
              <a:t>~98% of enterprise traffic is normal, while intrusions comprise &lt; 2%. Models easily collapse into majority-class predictors.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  <a:latin typeface="Calibri"/>
              </a:rPr>
              <a:t>Cold-Start Dilemma: </a:t>
            </a:r>
            <a:r>
              <a:rPr sz="1050">
                <a:solidFill>
                  <a:srgbClr val="94A3B8"/>
                </a:solidFill>
                <a:latin typeface="Calibri"/>
              </a:rPr>
              <a:t>Newly onboarded employees, service accounts, and edge IoT devices lack historical baseline data for statistical profiling.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  <a:latin typeface="Calibri"/>
              </a:rPr>
              <a:t>Concept Drift: </a:t>
            </a:r>
            <a:r>
              <a:rPr sz="1050">
                <a:solidFill>
                  <a:srgbClr val="94A3B8"/>
                </a:solidFill>
                <a:latin typeface="Calibri"/>
              </a:rPr>
              <a:t>Normal employee habits evolve naturally (shift changes, travel, role rotations), triggering false risk spikes.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3756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645920"/>
            <a:ext cx="30632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alibri"/>
              </a:defRPr>
            </a:pPr>
            <a:r>
              <a:t>The SOC Operational Crisis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  <a:latin typeface="Calibri"/>
              </a:rPr>
              <a:t>Catastrophic Alert Fatigue: </a:t>
            </a:r>
            <a:r>
              <a:rPr sz="1050">
                <a:solidFill>
                  <a:srgbClr val="94A3B8"/>
                </a:solidFill>
                <a:latin typeface="Calibri"/>
              </a:rPr>
              <a:t>High false positive rates flood analyst consoles with thousands of false alarms, drowning out genuine breaches.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  <a:latin typeface="Calibri"/>
              </a:rPr>
              <a:t>The Black-Box Gap: </a:t>
            </a:r>
            <a:r>
              <a:rPr sz="1050">
                <a:solidFill>
                  <a:srgbClr val="94A3B8"/>
                </a:solidFill>
                <a:latin typeface="Calibri"/>
              </a:rPr>
              <a:t>Standard neural networks output scalar risk scores without explaining WHY an event was flagged, stalling rapid triage.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F8FAFC"/>
                </a:solidFill>
                <a:latin typeface="Calibri"/>
              </a:rPr>
              <a:t>Aegis AI Mission: </a:t>
            </a:r>
            <a:r>
              <a:rPr sz="1050">
                <a:solidFill>
                  <a:srgbClr val="94A3B8"/>
                </a:solidFill>
                <a:latin typeface="Calibri"/>
              </a:rPr>
              <a:t>Deliver an automated, explainable, two-stage system with &lt; 2.5% FPR and instant root-cause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F2FE"/>
                </a:solidFill>
                <a:latin typeface="Calibri"/>
              </a:defRPr>
            </a:pPr>
            <a:r>
              <a:t>PROJECT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Project Aim &amp; Specific Technical Objectives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Calibri"/>
              </a:defRPr>
            </a:pPr>
            <a:r>
              <a:t>Bridging unsupervised baseline modeling with explainable supervised threat taxonomy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15213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Calibri"/>
              </a:defRPr>
            </a:pPr>
            <a:r>
              <a:t>PROJECT AIM: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Calibri"/>
              </a:defRPr>
            </a:pPr>
            <a:r>
              <a:t>To research, engineer, and validate Aegis AI: a decoupled two-stage machine learning pipeline that models normal access baselines without ground-truth label leakage, achieves &lt; 2.5% FPR on extreme class imbalance (~98% normal), classifies intrusions into 7 distinct attack categories, and generates Explainable AI root-cause diagnostics for SOC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514600" cy="3657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Calibri"/>
              </a:defRPr>
            </a:pPr>
            <a:r>
              <a:t>1. Sequential Synthesis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Synthetic generator producing 28,257 events across 165 entities (Users, Services, Edge IoT) with realistic temporal distributions and 8 attack behaviors.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651760"/>
            <a:ext cx="2514600" cy="3657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78892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2. Decoupled 2-Stage ML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Stage 1 (Unsupervised Isolation Forest + PyTorch LSTM Autoencoder) + Stage 2 (Supervised XGBoost Classifier trained with training-only SMOTE oversampling).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651760"/>
            <a:ext cx="2514600" cy="3657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278892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3. Adaptive Baseline Profiler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Cold-Start Peer Group Profiler for new entities (N &lt; 10 logs) and Exponentially Weighted Moving Average (EWMA, alpha=0.05) to track legitimate habit drift.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2651760"/>
            <a:ext cx="2514600" cy="3657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278892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4. Explainable AI &amp; SOC UI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Automated root-cause translation engine providing percentage feature attribution bars and native REST API dashboard at http://localhost:5000.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F2FE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System Architecture: Decoupled Two-Stage ML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Calibri"/>
              </a:defRPr>
            </a:pPr>
            <a:r>
              <a:t>Separating unsupervised anomaly detection from supervised threat taxonomy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6692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hture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48640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371600"/>
            <a:ext cx="4846320" cy="89611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444752"/>
            <a:ext cx="4572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8FAFC"/>
                </a:solidFill>
                <a:latin typeface="Calibri"/>
              </a:rPr>
              <a:t>Incoming Raw Telemetry: </a:t>
            </a:r>
            <a:r>
              <a:rPr sz="1000">
                <a:solidFill>
                  <a:srgbClr val="94A3B8"/>
                </a:solidFill>
                <a:latin typeface="Calibri"/>
              </a:rPr>
              <a:t>Structured JSON events (timestamp, geo-coordinates, IP, resource path, credentials, device fingerprint).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377440"/>
            <a:ext cx="4846320" cy="89611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450592"/>
            <a:ext cx="4572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38BDF8"/>
                </a:solidFill>
                <a:latin typeface="Calibri"/>
              </a:rPr>
              <a:t>45-Dimensional Causal Features: </a:t>
            </a:r>
            <a:r>
              <a:rPr sz="1000">
                <a:solidFill>
                  <a:srgbClr val="94A3B8"/>
                </a:solidFill>
                <a:latin typeface="Calibri"/>
              </a:rPr>
              <a:t>Extracts temporal cycles, continuous geo-velocity (km/h), rolling failure bursts, fingerprint shifts, and resource graph novelty.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383280"/>
            <a:ext cx="4846320" cy="89611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456432"/>
            <a:ext cx="4572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3B82F6"/>
                </a:solidFill>
                <a:latin typeface="Calibri"/>
              </a:rPr>
              <a:t>Stage 1: Unsupervised Ensemble: </a:t>
            </a:r>
            <a:r>
              <a:rPr sz="1000">
                <a:solidFill>
                  <a:srgbClr val="94A3B8"/>
                </a:solidFill>
                <a:latin typeface="Calibri"/>
              </a:rPr>
              <a:t>Isolation Forest + PyTorch LSTM Autoencoder + Geo-Velocity scaling engine score baseline deviation into a 0-100 composite risk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389120"/>
            <a:ext cx="4846320" cy="89611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462272"/>
            <a:ext cx="4572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59E0B"/>
                </a:solidFill>
                <a:latin typeface="Calibri"/>
              </a:rPr>
              <a:t>Calibrated Threshold Gate (T = 32.0): </a:t>
            </a:r>
            <a:r>
              <a:rPr sz="1000">
                <a:solidFill>
                  <a:srgbClr val="94A3B8"/>
                </a:solidFill>
                <a:latin typeface="Calibri"/>
              </a:rPr>
              <a:t>Risk &lt; 32.0 -&gt; Benign (EWMA baseline updated). Risk &gt;= 32.0 -&gt; Flagged as Anomaly and dispatched to Stage 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394960"/>
            <a:ext cx="4846320" cy="89611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5468112"/>
            <a:ext cx="4572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0B981"/>
                </a:solidFill>
                <a:latin typeface="Calibri"/>
              </a:rPr>
              <a:t>Stage 2: Supervised Attack Classifier: </a:t>
            </a:r>
            <a:r>
              <a:rPr sz="1000">
                <a:solidFill>
                  <a:srgbClr val="94A3B8"/>
                </a:solidFill>
                <a:latin typeface="Calibri"/>
              </a:rPr>
              <a:t>XGBoost 150-tree model assigns the exact attack category and generates plain-language XAI root causes for the SOC alert console.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F2FE"/>
                </a:solidFill>
                <a:latin typeface="Calibri"/>
              </a:defRPr>
            </a:pPr>
            <a:r>
              <a:t>FEATURE EXTRACTION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Causal Feature Engineering: 45 Specialized Metrics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Calibri"/>
              </a:defRPr>
            </a:pPr>
            <a:r>
              <a:t>Comprehensive domain-specific metrics capturing temporal, spatial, graph, and device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377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Calibri"/>
              </a:defRPr>
            </a:pPr>
            <a:r>
              <a:t>1. Temporal Dynamics (4)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hour_sin / hour_cos: Cyclical 24-hour trigonometric encoding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is_weekend: Binary indicator for non-business days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is_off_hours: Access outside habitual 08:00 - 18:00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2377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087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2. Geo-Velocity &amp; Spatial (4)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geo_velocity_kmh: Haversine speed between consecutive logins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time_delta_minutes: Elapsed minutes since previous event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distance_km: Physical spherical distance traversed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impossible_travel_flag: Speeds physically exceeding 600 km/h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2377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087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Calibri"/>
              </a:defRPr>
            </a:pPr>
            <a:r>
              <a:t>3. Auth &amp; Session (5)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rolling_failures_5m / 1h: Short &amp; medium burst failure counters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auth_failed: Binary authentication rejection flag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ip_diversity_1h: Unique IP count within sliding 1-hour window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session_duration: Logged session connection duration (seconds)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Calibri"/>
              </a:defRPr>
            </a:pPr>
            <a:r>
              <a:t>4. Cryptographic Fingerprint (7)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os_changed / mac_changed: Hardware and OS profile shifts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protocol_changed: TLSv1.3 vs SSHv2 communication alterations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fingerprint_change_count_24h: Volatility frequency index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time_since_last_change: Recency of hardware/browser alteration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690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Calibri"/>
              </a:defRPr>
            </a:pPr>
            <a:r>
              <a:t>5. Graph &amp; Volumetric Drift (25)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new_resource / resource_novelty: Unseen endpoints &amp; graph paths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unique_resources_10m / 1h: Breadth expansion over time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restricted_resource / command_sequence_anomaly: Mimikatz flags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download_volume_1h / 24h / 7d: Cumulative exfiltration tracking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• privilege_expansion_rate &amp; behavior_drift_score: Role drift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F2FE"/>
                </a:solidFill>
                <a:latin typeface="Calibri"/>
              </a:defRPr>
            </a:pPr>
            <a:r>
              <a:t>STAGE-1 DETECTION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Stage 1: Unsupervised Behavioral Anomaly Detection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Calibri"/>
              </a:defRPr>
            </a:pPr>
            <a:r>
              <a:t>Zero-label ensemble modeling baseline normality and capturing physical and sequence deviations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  <a:latin typeface="Calibri"/>
              </a:defRPr>
            </a:pPr>
            <a:r>
              <a:t>PATH LENGTH ANOMALY SCORE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Calibri"/>
              </a:defRPr>
            </a:pPr>
            <a:r>
              <a:t>Isolation Forest (100 Trees)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Fits on normal baseline training telemetry (contamination=0.02) without attack labels. Isolates anomalous vectors through random recursive partitioning, identifying sparse regions via shorter path lengths.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Calibri"/>
              </a:defRPr>
            </a:pPr>
            <a:r>
              <a:t>SEQUENCE RECONSTRUCTION LOSS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Calibri"/>
              </a:defRPr>
            </a:pPr>
            <a:r>
              <a:t>PyTorch LSTM Autoencoder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Deep sequence autoencoder (45 -&gt; 32 -&gt; 16 -&gt; 32 -&gt; 45) trained on normal user event sequences using Adam optimizer (lr=0.005). Intrusions exhibit high reconstruction Mean Squared Error (MSE).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Calibri"/>
              </a:defRPr>
            </a:pPr>
            <a:r>
              <a:t>PHYSICAL PHYSICS CONSTRAINTS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Calibri"/>
              </a:defRPr>
            </a:pPr>
            <a:r>
              <a:t>Continuous Geo-Velocity (S_geo)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Calculates spherical Haversine distance. Speeds &lt; 600 km/h incur 0 penalty. Speeds &gt; 600 km/h scale continuously via S_geo = min(1.0, 0.35 + (velocity - 600)/3000), eliminating binary edge-case clipping.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Calibri"/>
              </a:defRPr>
            </a:pPr>
            <a:r>
              <a:t>ADAPTIVE DYNAMIC PROFILING</a:t>
            </a:r>
          </a:p>
          <a:p>
            <a:pPr>
              <a:spcBef>
                <a:spcPts val="200"/>
              </a:spcBef>
              <a:defRPr sz="1400" b="1">
                <a:solidFill>
                  <a:srgbClr val="F8FAFC"/>
                </a:solidFill>
                <a:latin typeface="Calibri"/>
              </a:defRPr>
            </a:pPr>
            <a:r>
              <a:t>Cold-Start &amp; Concept Drift Profiler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Blends new entity scores with peer-group population baselines using w_ind = min(1, N/10). EWMA exponential smoothing (alpha=0.05) updates normal profiles dynamically as benign habits evolve.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F2FE"/>
                </a:solidFill>
                <a:latin typeface="Calibri"/>
              </a:defRPr>
            </a:pPr>
            <a:r>
              <a:t>STAGE-2 CLASSIFICATION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Stage 2: Supervised Threat Taxonomy Classification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Calibri"/>
              </a:defRPr>
            </a:pPr>
            <a:r>
              <a:t>Categorizing confirmed anomalies into 7 MITRE-aligned cyber attack vectors using XGBoost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alibri"/>
              </a:defRPr>
            </a:pPr>
            <a:r>
              <a:t>XGBoost Classifier Architecture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150 Gradient Boosted Trees: </a:t>
            </a:r>
            <a:r>
              <a:rPr sz="1000">
                <a:solidFill>
                  <a:srgbClr val="94A3B8"/>
                </a:solidFill>
                <a:latin typeface="Calibri"/>
              </a:rPr>
              <a:t>Max depth = 6, learning rate = 0.1, objective = multi:softprob across 7 attack classes.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Strict Training-Only SMOTE: </a:t>
            </a:r>
            <a:r>
              <a:rPr sz="1000">
                <a:solidFill>
                  <a:srgbClr val="94A3B8"/>
                </a:solidFill>
                <a:latin typeface="Calibri"/>
              </a:rPr>
              <a:t>Synthetic Minority Over-sampling is applied ONLY to Stage-2 training attack vectors (k_neighbors=3). Zero synthetic samples ever enter validation or test splits.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Zero Execution on Normal Traffic: </a:t>
            </a:r>
            <a:r>
              <a:rPr sz="1000">
                <a:solidFill>
                  <a:srgbClr val="94A3B8"/>
                </a:solidFill>
                <a:latin typeface="Calibri"/>
              </a:rPr>
              <a:t>Filters out ~98% of traffic at Stage 1, invoking XGBoost only on flagged events (~2%), achieving high computational efficiency.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Softmax Class Probabilities: </a:t>
            </a:r>
            <a:r>
              <a:rPr sz="1000">
                <a:solidFill>
                  <a:srgbClr val="94A3B8"/>
                </a:solidFill>
                <a:latin typeface="Calibri"/>
              </a:rPr>
              <a:t>Outputs calibrated probability distributions across all 7 categories for clear multi-vector risk profiling.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Calibri"/>
              </a:defRPr>
            </a:pPr>
            <a:r>
              <a:t>The 7 MITRE-Aligned Attack Vectors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Brute Force: </a:t>
            </a:r>
            <a:r>
              <a:rPr sz="950">
                <a:solidFill>
                  <a:srgbClr val="94A3B8"/>
                </a:solidFill>
                <a:latin typeface="Calibri"/>
              </a:rPr>
              <a:t>High-frequency authentication failures targeting single login endpoints.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Credential Stuffing: </a:t>
            </a:r>
            <a:r>
              <a:rPr sz="950">
                <a:solidFill>
                  <a:srgbClr val="94A3B8"/>
                </a:solidFill>
                <a:latin typeface="Calibri"/>
              </a:rPr>
              <a:t>Distributed multi-account password guessing from shared NAT/proxy pools.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Lateral Movement: </a:t>
            </a:r>
            <a:r>
              <a:rPr sz="950">
                <a:solidFill>
                  <a:srgbClr val="94A3B8"/>
                </a:solidFill>
                <a:latin typeface="Calibri"/>
              </a:rPr>
              <a:t>Traversal into internal vaults (/admin/vault_keys) with credential dump tools.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Device Spoofing: </a:t>
            </a:r>
            <a:r>
              <a:rPr sz="950">
                <a:solidFill>
                  <a:srgbClr val="94A3B8"/>
                </a:solidFill>
                <a:latin typeface="Calibri"/>
              </a:rPr>
              <a:t>Sudden changes in MAC address, OS version (Windows -&gt; Kali), or TLS protocol.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Low-and-Slow Exfil: </a:t>
            </a:r>
            <a:r>
              <a:rPr sz="950">
                <a:solidFill>
                  <a:srgbClr val="94A3B8"/>
                </a:solidFill>
                <a:latin typeface="Calibri"/>
              </a:rPr>
              <a:t>Small off-hours transfers accumulating over extended multi-day rolling windows.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Impossible Travel: </a:t>
            </a:r>
            <a:r>
              <a:rPr sz="950">
                <a:solidFill>
                  <a:srgbClr val="94A3B8"/>
                </a:solidFill>
                <a:latin typeface="Calibri"/>
              </a:rPr>
              <a:t>Logins from distant cities (Chennai -&gt; Tokyo) within impossible time deltas.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Insider Drift: </a:t>
            </a:r>
            <a:r>
              <a:rPr sz="950">
                <a:solidFill>
                  <a:srgbClr val="94A3B8"/>
                </a:solidFill>
                <a:latin typeface="Calibri"/>
              </a:rPr>
              <a:t>Legitimate entity gradually expanding resource footprint across unauthorized departments.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F2FE"/>
                </a:solidFill>
                <a:latin typeface="Calibri"/>
              </a:defRPr>
            </a:pPr>
            <a:r>
              <a:t>DATASET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Dataset Engineering &amp; Zero-Leakage Splitting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Calibri"/>
              </a:defRPr>
            </a:pPr>
            <a:r>
              <a:t>28,257 access events across 165 entities with strict entity-grouped held-out partitioning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  <a:latin typeface="Calibri"/>
              </a:defRPr>
            </a:pPr>
            <a:r>
              <a:t>70% Train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115 Entities (19,828 logs)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Baseline profile fitting, scaler normalization, and Stage-1/Stage-2 model fitting.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Calibri"/>
              </a:defRPr>
            </a:pPr>
            <a:r>
              <a:t>15% Validation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24 Entities (3,948 logs)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Held out strictly for calibrating the Stage-1 risk cutoff threshold (T = 32.0).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4630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Calibri"/>
              </a:defRPr>
            </a:pPr>
            <a:r>
              <a:t>15% Held-Out Test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26 Entities (4,481 logs)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Untouched during all training. Evaluates pure generalization on brand-new entities.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698480" cy="2834640"/>
          </a:xfrm>
          <a:prstGeom prst="roundRect">
            <a:avLst/>
          </a:prstGeom>
          <a:solidFill>
            <a:srgbClr val="152138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Why Entity-Grouped Partitioning Eliminates Temporal Data Leakage: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The Flaw of Random Splitting: </a:t>
            </a:r>
            <a:r>
              <a:rPr sz="1000">
                <a:solidFill>
                  <a:srgbClr val="94A3B8"/>
                </a:solidFill>
                <a:latin typeface="Calibri"/>
              </a:rPr>
              <a:t>Standard random row-level k-fold cross validation leaks past user behavior into future evaluation, artificially inflating accuracy scores while failing in live enterprise deployments.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Strict 0% Entity Overlap: </a:t>
            </a:r>
            <a:r>
              <a:rPr sz="1000">
                <a:solidFill>
                  <a:srgbClr val="94A3B8"/>
                </a:solidFill>
                <a:latin typeface="Calibri"/>
              </a:rPr>
              <a:t>In Aegis AI, the 26 test entities appear ZERO times in training or validation data. Every test entity represents a completely unobserved individual, service account, or IoT device.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Realistic Extreme Imbalance Maintained: </a:t>
            </a:r>
            <a:r>
              <a:rPr sz="1000">
                <a:solidFill>
                  <a:srgbClr val="94A3B8"/>
                </a:solidFill>
                <a:latin typeface="Calibri"/>
              </a:rPr>
              <a:t>The natural ~98% normal distribution is preserved across all validation and test sets. No synthetic samples are ever inserted into the held-out evaluation stream.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F2FE"/>
                </a:solidFill>
                <a:latin typeface="Calibri"/>
              </a:defRPr>
            </a:pPr>
            <a:r>
              <a:t>VERIFIED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Empirical Evaluation Results: Untouched Test Split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Calibri"/>
              </a:defRPr>
            </a:pPr>
            <a:r>
              <a:t>Evaluated on 4,481 logs across 26 entities with zero model fitting executed during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402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8BDF8"/>
                </a:solidFill>
                <a:latin typeface="Calibri"/>
              </a:defRPr>
            </a:pPr>
            <a:r>
              <a:t>95.36%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End-to-End Accuracy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On untouched held-out test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146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508760"/>
            <a:ext cx="22402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B981"/>
                </a:solidFill>
                <a:latin typeface="Calibri"/>
              </a:defRPr>
            </a:pPr>
            <a:r>
              <a:t>0.9734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Stage-1 ROC-AUC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PR-AUC = 0.7266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146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508760"/>
            <a:ext cx="22402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B82F6"/>
                </a:solidFill>
                <a:latin typeface="Calibri"/>
              </a:defRPr>
            </a:pPr>
            <a:r>
              <a:t>2.45%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False Positive Rate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Comfortably below SOC 5% limit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371600"/>
            <a:ext cx="251460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508760"/>
            <a:ext cx="22402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  <a:latin typeface="Calibri"/>
              </a:defRPr>
            </a:pPr>
            <a:r>
              <a:t>&lt; 4.2 ms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Streaming Latency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Sub-second real-time scoring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92608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828800"/>
                <a:gridCol w="1920240"/>
                <a:gridCol w="1920240"/>
                <a:gridCol w="2011680"/>
              </a:tblGrid>
              <a:tr h="375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Threat 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Support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Normal Baseline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4,122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97.43%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97.55%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97.49%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Lateral Movement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89.72%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94.58%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Brute Force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82.22%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90.24%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Credential Stuffing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78.69%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88.07%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Device Spoofing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58.33%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66.67%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62.22%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Insider Drift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43.33%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55.71%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48.75%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Low-and-Slow Exfiltration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34.21%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30.95%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32.50%</a:t>
                      </a:r>
                    </a:p>
                  </a:txBody>
                  <a:tcPr>
                    <a:solidFill>
                      <a:srgbClr val="152138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Impossible Travel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50.00%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20.83%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29.41%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F2FE"/>
                </a:solidFill>
                <a:latin typeface="Calibri"/>
              </a:defRPr>
            </a:pPr>
            <a:r>
              <a:t>SOC ANALYST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Explainable AI (XAI) &amp; SOC Operations Center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Calibri"/>
              </a:defRPr>
            </a:pPr>
            <a:r>
              <a:t>Automated plain-language root-cause diagnostics and lightweight REST API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alibri"/>
              </a:defRPr>
            </a:pPr>
            <a:r>
              <a:t>Automated XAI Root Cause Engine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Transparent Attribution: </a:t>
            </a:r>
            <a:r>
              <a:rPr sz="1000">
                <a:solidFill>
                  <a:srgbClr val="94A3B8"/>
                </a:solidFill>
                <a:latin typeface="Calibri"/>
              </a:rPr>
              <a:t>Translates mathematical model vectors into exact quantitative evidence (e.g. 'Traveling speed 12,821 km/h between logins (threshold: 600 km/h)').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Percentage Weight Bars: </a:t>
            </a:r>
            <a:r>
              <a:rPr sz="1000">
                <a:solidFill>
                  <a:srgbClr val="94A3B8"/>
                </a:solidFill>
                <a:latin typeface="Calibri"/>
              </a:rPr>
              <a:t>Ranks contributing features by normalized deviation importance so analysts know whether an alert is driven by IP diversity, auth failure bursts, or command anomalies.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No Black-Box Stalling: </a:t>
            </a:r>
            <a:r>
              <a:rPr sz="1000">
                <a:solidFill>
                  <a:srgbClr val="94A3B8"/>
                </a:solidFill>
                <a:latin typeface="Calibri"/>
              </a:rPr>
              <a:t>Empowers Tier-1 analysts to immediately triage, confirm, or dismiss alerts without requiring data science escalation.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Analyst Feedback Loop: </a:t>
            </a:r>
            <a:r>
              <a:rPr sz="1000">
                <a:solidFill>
                  <a:srgbClr val="94A3B8"/>
                </a:solidFill>
                <a:latin typeface="Calibri"/>
              </a:rPr>
              <a:t>One-click 'Confirm Threat' or 'False Positive' buttons trigger POST /api/feedback to dynamically adjust EWMA drift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Calibri"/>
              </a:defRPr>
            </a:pPr>
            <a:r>
              <a:t>Interactive SOC Web Application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Active on http://localhost:5000 (Python native HTTP server)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Ranked Alert Queue: </a:t>
            </a:r>
            <a:r>
              <a:rPr sz="950">
                <a:solidFill>
                  <a:srgbClr val="94A3B8"/>
                </a:solidFill>
                <a:latin typeface="Calibri"/>
              </a:rPr>
              <a:t>Live event stream ranked by composite risk score (0-100) with severity badges (Critical, High, Medium, Low).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Interactive Attack Simulator: </a:t>
            </a:r>
            <a:r>
              <a:rPr sz="950">
                <a:solidFill>
                  <a:srgbClr val="94A3B8"/>
                </a:solidFill>
                <a:latin typeface="Calibri"/>
              </a:rPr>
              <a:t>Inject live attack sequences (Brute Force, Credential Stuffing, Impossible Travel) into the telemetry stream in real time.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Single Event Evaluator: </a:t>
            </a:r>
            <a:r>
              <a:rPr sz="950">
                <a:solidFill>
                  <a:srgbClr val="94A3B8"/>
                </a:solidFill>
                <a:latin typeface="Calibri"/>
              </a:rPr>
              <a:t>Test arbitrary JSON access logs or pre-built attack presets in isolated mode without contaminating global baselines.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Entity Behavioral Profiler: </a:t>
            </a:r>
            <a:r>
              <a:rPr sz="950">
                <a:solidFill>
                  <a:srgbClr val="94A3B8"/>
                </a:solidFill>
                <a:latin typeface="Calibri"/>
              </a:rPr>
              <a:t>Inspect historical access timelines, device fingerprints, and peer-group baseline comparisons.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FAFC"/>
                </a:solidFill>
                <a:latin typeface="Calibri"/>
              </a:rPr>
              <a:t>Model Verification Tab: </a:t>
            </a:r>
            <a:r>
              <a:rPr sz="950">
                <a:solidFill>
                  <a:srgbClr val="94A3B8"/>
                </a:solidFill>
                <a:latin typeface="Calibri"/>
              </a:rPr>
              <a:t>Live SHA256 checksums and confusion matrix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F2FE"/>
                </a:solidFill>
                <a:latin typeface="Calibri"/>
              </a:defRPr>
            </a:pPr>
            <a:r>
              <a:t>DEPLOYMENT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Feasibility, Viability &amp; Future Roadmap</a:t>
            </a:r>
          </a:p>
          <a:p>
            <a:pPr>
              <a:spcBef>
                <a:spcPts val="300"/>
              </a:spcBef>
              <a:defRPr sz="1150">
                <a:solidFill>
                  <a:srgbClr val="38BDF8"/>
                </a:solidFill>
                <a:latin typeface="Calibri"/>
              </a:defRPr>
            </a:pPr>
            <a:r>
              <a:t>Enterprise scalability, SIEM compatibility, and future research expansions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3756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Calibri"/>
              </a:defRPr>
            </a:pPr>
            <a:r>
              <a:t>Operational Feasibility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Lightweight Compute: </a:t>
            </a:r>
            <a:r>
              <a:rPr sz="1000">
                <a:solidFill>
                  <a:srgbClr val="94A3B8"/>
                </a:solidFill>
                <a:latin typeface="Calibri"/>
              </a:rPr>
              <a:t>Decoupled architecture filters ~98% of traffic using fast tree/matrix operations, invoking heavy XGBoost only on ~2%.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Real-Time Latency: </a:t>
            </a:r>
            <a:r>
              <a:rPr sz="1000">
                <a:solidFill>
                  <a:srgbClr val="94A3B8"/>
                </a:solidFill>
                <a:latin typeface="Calibri"/>
              </a:rPr>
              <a:t>&lt; 4.2 ms / event enables seamless streaming ingestion into production SIEMs (Splunk, Microsoft Sentinel).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Zero Heavy Frameworks: </a:t>
            </a:r>
            <a:r>
              <a:rPr sz="1000">
                <a:solidFill>
                  <a:srgbClr val="94A3B8"/>
                </a:solidFill>
                <a:latin typeface="Calibri"/>
              </a:rPr>
              <a:t>Runs out of the box using native Python HTTP server without requiring complex Docker/K8s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3756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Calibri"/>
              </a:defRPr>
            </a:pPr>
            <a:r>
              <a:t>Commercial Viability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Alert Budget Adherence: </a:t>
            </a:r>
            <a:r>
              <a:rPr sz="1000">
                <a:solidFill>
                  <a:srgbClr val="94A3B8"/>
                </a:solidFill>
                <a:latin typeface="Calibri"/>
              </a:rPr>
              <a:t>2.45% False Positive Rate preserves analyst sanity and strictly respects enterprise alert budgets.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No Costly Labeling: </a:t>
            </a:r>
            <a:r>
              <a:rPr sz="1000">
                <a:solidFill>
                  <a:srgbClr val="94A3B8"/>
                </a:solidFill>
                <a:latin typeface="Calibri"/>
              </a:rPr>
              <a:t>Stage 1 operates completely unsupervised, eliminating the need for expensive security analyst manual data tagging.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Model Tamper-Proofing: </a:t>
            </a:r>
            <a:r>
              <a:rPr sz="1000">
                <a:solidFill>
                  <a:srgbClr val="94A3B8"/>
                </a:solidFill>
                <a:latin typeface="Calibri"/>
              </a:rPr>
              <a:t>Frozen serialized artifacts under models/ with SHA256 checksums ensure regulatory compliance and auditability.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alibri"/>
              </a:defRPr>
            </a:pPr>
            <a:r>
              <a:t>Future Technical Roadmap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Graph Neural Networks: </a:t>
            </a:r>
            <a:r>
              <a:rPr sz="1000">
                <a:solidFill>
                  <a:srgbClr val="94A3B8"/>
                </a:solidFill>
                <a:latin typeface="Calibri"/>
              </a:rPr>
              <a:t>Integrate GraphSAGE / Relational GCNs to track complex multi-hop Active Directory domain traversal.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Local LLM Playbooks: </a:t>
            </a:r>
            <a:r>
              <a:rPr sz="1000">
                <a:solidFill>
                  <a:srgbClr val="94A3B8"/>
                </a:solidFill>
                <a:latin typeface="Calibri"/>
              </a:rPr>
              <a:t>Hook XAI attribution vectors into local Llama-3-8B to auto-generate remediation playbooks and firewall rules.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8FAFC"/>
                </a:solidFill>
                <a:latin typeface="Calibri"/>
              </a:rPr>
              <a:t>Edge Device ONNX: </a:t>
            </a:r>
            <a:r>
              <a:rPr sz="1000">
                <a:solidFill>
                  <a:srgbClr val="94A3B8"/>
                </a:solidFill>
                <a:latin typeface="Calibri"/>
              </a:rPr>
              <a:t>Quantize PyTorch LSTM Autoencoder to INT8 for deployment on low-power OT/IoT hardware firewalls.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Calibri"/>
              </a:defRPr>
            </a:pPr>
            <a:r>
              <a:t>CONCLUSION &amp; SUMMARY</a:t>
            </a:r>
          </a:p>
          <a:p>
            <a:pPr>
              <a:spcBef>
                <a:spcPts val="600"/>
              </a:spcBef>
              <a:defRPr sz="1400">
                <a:solidFill>
                  <a:srgbClr val="38BDF8"/>
                </a:solidFill>
                <a:latin typeface="Calibri"/>
              </a:defRPr>
            </a:pPr>
            <a:r>
              <a:t>Aegis AI delivers an enterprise-ready behavioral intrusion detection engine solving extreme class imbalance, cold start, and explainability.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310896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39" y="2606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8BDF8"/>
                </a:solidFill>
                <a:latin typeface="Calibri"/>
              </a:defRPr>
            </a:pPr>
            <a:r>
              <a:t>95.36% Accuracy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Zero-Leakage Benchmark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Proven on 26 unobserved test entities with 0% entity overlap.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468880"/>
            <a:ext cx="310896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606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B981"/>
                </a:solidFill>
                <a:latin typeface="Calibri"/>
              </a:defRPr>
            </a:pPr>
            <a:r>
              <a:t>2.45% False Positives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ROC-AUC = 0.9734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Stops alert fatigue and respects realistic SOC triage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468880"/>
            <a:ext cx="310896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606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B82F6"/>
                </a:solidFill>
                <a:latin typeface="Calibri"/>
              </a:defRPr>
            </a:pPr>
            <a:r>
              <a:t>Production Deployed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  <a:latin typeface="Calibri"/>
              </a:defRPr>
            </a:pPr>
            <a:r>
              <a:t>Live Operations Center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Active REST API, test engine, and interactive dashboard at localhost:5000.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389120"/>
            <a:ext cx="996696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5262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Project Resources &amp; Repository Links: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Calibri"/>
              </a:rPr>
              <a:t>GitHub Repository: </a:t>
            </a:r>
            <a:r>
              <a:rPr sz="1050">
                <a:solidFill>
                  <a:srgbClr val="F8FAFC"/>
                </a:solidFill>
                <a:latin typeface="Calibri"/>
              </a:rPr>
              <a:t>https://github.com/abhinav260506/Behavioral-Anomaly-Detection-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Calibri"/>
              </a:rPr>
              <a:t>Live Web Dashboard: </a:t>
            </a:r>
            <a:r>
              <a:rPr sz="1050">
                <a:solidFill>
                  <a:srgbClr val="F8FAFC"/>
                </a:solidFill>
                <a:latin typeface="Calibri"/>
              </a:rPr>
              <a:t>http://localhost:5000 (Launch via run.bat)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38BDF8"/>
                </a:solidFill>
                <a:latin typeface="Calibri"/>
              </a:rPr>
              <a:t>Lead Developer: </a:t>
            </a:r>
            <a:r>
              <a:rPr sz="1050">
                <a:solidFill>
                  <a:srgbClr val="F8FAFC"/>
                </a:solidFill>
                <a:latin typeface="Calibri"/>
              </a:rPr>
              <a:t>Venkata Abhinav Kumar Gupta Gunda (23BCE1037 | gunda.abhinav26@gmail.com)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