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300" r:id="rId5"/>
    <p:sldId id="293" r:id="rId6"/>
    <p:sldId id="299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57D6-D2BD-2D7B-B97B-C450C594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BE1AA0C2-DF33-D6C8-F0B2-053A8E4AA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7862776-4F05-14E2-99E9-C42CB4D81B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4573537-5217-5C22-0BF2-2BDB577C3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72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Abhinav </a:t>
            </a:r>
            <a:r>
              <a:rPr lang="en-US" dirty="0" err="1"/>
              <a:t>kumar</a:t>
            </a:r>
            <a:r>
              <a:rPr lang="en-US" dirty="0"/>
              <a:t> Gupta gunda</a:t>
            </a: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534241" y="-73176"/>
            <a:ext cx="7948087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Al-Powered Behavioral Anomaly Detection for Cybersecurity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76954" y="1383262"/>
            <a:ext cx="11032726" cy="4071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3 Al-Powered Behavioral Anomaly Detection for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Al-Powered Behavioral Anomaly Detection for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&amp; Cybersecurity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Student Name: Venkata Abhinav Kumar Gupta Gunda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Student ID : 23BCE1037   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gunda.abhinav26@gmail.com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lang="en-IN" sz="2400" b="1" dirty="0"/>
              <a:t>Aegis AI — Two-Stage </a:t>
            </a:r>
            <a:r>
              <a:rPr lang="en-IN" sz="2400" b="1" dirty="0" err="1"/>
              <a:t>Behavioral</a:t>
            </a:r>
            <a:r>
              <a:rPr lang="en-IN" sz="2400" b="1" dirty="0"/>
              <a:t> Anomaly Detection &amp; Threat Classification Architecture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2295" y="848769"/>
            <a:ext cx="12191999" cy="581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600" dirty="0"/>
              <a:t>1. Detailed Explanation of the Proposed Solution</a:t>
            </a:r>
          </a:p>
          <a:p>
            <a:r>
              <a:rPr lang="en-IN" sz="1600" b="1" dirty="0"/>
              <a:t>Decoupled Two-Stage Machine Learning Pipeline</a:t>
            </a:r>
            <a:r>
              <a:rPr lang="en-IN" sz="1600" dirty="0"/>
              <a:t>:</a:t>
            </a:r>
          </a:p>
          <a:p>
            <a:pPr lvl="1"/>
            <a:r>
              <a:rPr lang="en-IN" sz="1600" b="1" dirty="0"/>
              <a:t>Stage 1 (Unsupervised Anomaly Detection)</a:t>
            </a:r>
            <a:r>
              <a:rPr lang="en-IN" sz="1600" dirty="0"/>
              <a:t>: Combines </a:t>
            </a:r>
            <a:r>
              <a:rPr lang="en-IN" sz="1600" b="1" dirty="0"/>
              <a:t>Isolation Forest</a:t>
            </a:r>
            <a:r>
              <a:rPr lang="en-IN" sz="1600" dirty="0"/>
              <a:t>, </a:t>
            </a:r>
            <a:r>
              <a:rPr lang="en-IN" sz="1600" b="1" dirty="0" err="1"/>
              <a:t>PyTorch</a:t>
            </a:r>
            <a:r>
              <a:rPr lang="en-IN" sz="1600" b="1" dirty="0"/>
              <a:t> LSTM Autoencoder</a:t>
            </a:r>
            <a:r>
              <a:rPr lang="en-IN" sz="1600" dirty="0"/>
              <a:t> (sequence reconstruction MSE), </a:t>
            </a:r>
            <a:r>
              <a:rPr lang="en-IN" sz="1600" b="1" dirty="0" err="1"/>
              <a:t>Mahalanobis</a:t>
            </a:r>
            <a:r>
              <a:rPr lang="en-IN" sz="1600" b="1" dirty="0"/>
              <a:t> Z-Score Distance</a:t>
            </a:r>
            <a:r>
              <a:rPr lang="en-IN" sz="1600" dirty="0"/>
              <a:t>, and continuous </a:t>
            </a:r>
            <a:r>
              <a:rPr lang="en-IN" sz="1600" b="1" dirty="0"/>
              <a:t>Haversine Geo-Velocity Scaling </a:t>
            </a:r>
            <a:r>
              <a:rPr lang="en-IN" sz="1600" dirty="0"/>
              <a:t>into a unified 0-100 Risk Score without using ground-truth labels.</a:t>
            </a:r>
          </a:p>
          <a:p>
            <a:pPr lvl="1"/>
            <a:r>
              <a:rPr lang="en-IN" sz="1600" b="1" dirty="0"/>
              <a:t>Stage 2 (Supervised Threat Categorization)</a:t>
            </a:r>
            <a:r>
              <a:rPr lang="en-IN" sz="1600" dirty="0"/>
              <a:t>: Uses an </a:t>
            </a:r>
            <a:r>
              <a:rPr lang="en-IN" sz="1600" b="1" dirty="0" err="1"/>
              <a:t>XGBoost</a:t>
            </a:r>
            <a:r>
              <a:rPr lang="en-IN" sz="1600" b="1" dirty="0"/>
              <a:t> Multi-Class Classifier</a:t>
            </a:r>
            <a:r>
              <a:rPr lang="en-IN" sz="1600" dirty="0"/>
              <a:t> trained on SMOTE-balanced attack vectors to categorize Stage-1 flagged anomalies into 7 distinct attack categories (</a:t>
            </a:r>
            <a:r>
              <a:rPr lang="en-IN" sz="1600" i="1" dirty="0"/>
              <a:t>Brute Force</a:t>
            </a:r>
            <a:r>
              <a:rPr lang="en-IN" sz="1600" dirty="0"/>
              <a:t>, </a:t>
            </a:r>
            <a:r>
              <a:rPr lang="en-IN" sz="1600" i="1" dirty="0"/>
              <a:t>Credential Stuffing</a:t>
            </a:r>
            <a:r>
              <a:rPr lang="en-IN" sz="1600" dirty="0"/>
              <a:t>, </a:t>
            </a:r>
            <a:r>
              <a:rPr lang="en-IN" sz="1600" i="1" dirty="0"/>
              <a:t>Lateral Movement</a:t>
            </a:r>
            <a:r>
              <a:rPr lang="en-IN" sz="1600" dirty="0"/>
              <a:t>, </a:t>
            </a:r>
            <a:r>
              <a:rPr lang="en-IN" sz="1600" i="1" dirty="0"/>
              <a:t>Low-and-Slow Exfiltration</a:t>
            </a:r>
            <a:r>
              <a:rPr lang="en-IN" sz="1600" dirty="0"/>
              <a:t>, </a:t>
            </a:r>
            <a:r>
              <a:rPr lang="en-IN" sz="1600" i="1" dirty="0"/>
              <a:t>Device Spoofing</a:t>
            </a:r>
            <a:r>
              <a:rPr lang="en-IN" sz="1600" dirty="0"/>
              <a:t>, </a:t>
            </a:r>
            <a:r>
              <a:rPr lang="en-IN" sz="1600" i="1" dirty="0"/>
              <a:t>Impossible Travel</a:t>
            </a:r>
            <a:r>
              <a:rPr lang="en-IN" sz="1600" dirty="0"/>
              <a:t>, </a:t>
            </a:r>
            <a:r>
              <a:rPr lang="en-IN" sz="1600" i="1" dirty="0"/>
              <a:t>Insider Drift</a:t>
            </a:r>
            <a:r>
              <a:rPr lang="en-IN" sz="1600" dirty="0"/>
              <a:t>).</a:t>
            </a:r>
          </a:p>
          <a:p>
            <a:r>
              <a:rPr lang="en-IN" sz="1600" b="1" dirty="0"/>
              <a:t>Adaptive Baseline Management</a:t>
            </a:r>
            <a:r>
              <a:rPr lang="en-IN" sz="1600" dirty="0"/>
              <a:t>: Integrates a </a:t>
            </a:r>
            <a:r>
              <a:rPr lang="en-IN" sz="1600" b="1" dirty="0"/>
              <a:t>Cold-Start Peer Group Profiler</a:t>
            </a:r>
            <a:r>
              <a:rPr lang="en-IN" sz="1600" dirty="0"/>
              <a:t> for new entities and rolling 7d/30d baseline updates with an interactive SOC analyst feedback loop (POST /</a:t>
            </a:r>
            <a:r>
              <a:rPr lang="en-IN" sz="1600" dirty="0" err="1"/>
              <a:t>api</a:t>
            </a:r>
            <a:r>
              <a:rPr lang="en-IN" sz="1600" dirty="0"/>
              <a:t>/feedback).</a:t>
            </a:r>
          </a:p>
          <a:p>
            <a:r>
              <a:rPr lang="en-IN" sz="1600" dirty="0"/>
              <a:t>2. How It Addresses the Problem</a:t>
            </a:r>
          </a:p>
          <a:p>
            <a:r>
              <a:rPr lang="en-IN" sz="1600" b="1" dirty="0"/>
              <a:t>Eliminates Signature Vulnerability</a:t>
            </a:r>
            <a:r>
              <a:rPr lang="en-IN" sz="1600" dirty="0"/>
              <a:t>: Models dynamic access telemetry over time across 45 causal feature dimensions rather than relying on static IP blacklists or hash signatures.</a:t>
            </a:r>
          </a:p>
          <a:p>
            <a:r>
              <a:rPr lang="en-IN" sz="1600" b="1" dirty="0"/>
              <a:t>Resilient to Extreme Class Imbalance</a:t>
            </a:r>
            <a:r>
              <a:rPr lang="en-IN" sz="1600" dirty="0"/>
              <a:t>: Keeps Stage-1 training natural on ~98% normal streams; applies SMOTE oversampling </a:t>
            </a:r>
            <a:r>
              <a:rPr lang="en-IN" sz="1600" b="1" dirty="0"/>
              <a:t>only</a:t>
            </a:r>
            <a:r>
              <a:rPr lang="en-IN" sz="1600" dirty="0"/>
              <a:t> to Stage-2 training attack vectors.</a:t>
            </a:r>
          </a:p>
          <a:p>
            <a:r>
              <a:rPr lang="en-IN" sz="1600" b="1" dirty="0"/>
              <a:t>Low False Alarm Rate</a:t>
            </a:r>
            <a:r>
              <a:rPr lang="en-IN" sz="1600" dirty="0"/>
              <a:t>: Achieves a </a:t>
            </a:r>
            <a:r>
              <a:rPr lang="en-IN" sz="1600" b="1" dirty="0"/>
              <a:t>2.45% False Positive Rate (FPR)</a:t>
            </a:r>
            <a:r>
              <a:rPr lang="en-IN" sz="1600" dirty="0"/>
              <a:t> on held-out test events, fitting comfortably within realistic SOC analyst alert budgets.</a:t>
            </a:r>
          </a:p>
          <a:p>
            <a:r>
              <a:rPr lang="en-IN" sz="1600" dirty="0"/>
              <a:t>3. Innovation and Uniqueness</a:t>
            </a:r>
          </a:p>
          <a:p>
            <a:r>
              <a:rPr lang="en-IN" sz="1600" b="1" dirty="0"/>
              <a:t>Continuous Physical Geo-Velocity Model : </a:t>
            </a:r>
            <a:r>
              <a:rPr lang="en-IN" sz="1600" dirty="0"/>
              <a:t>Physically bounds movement velocity using continuous Haversine distance equations.</a:t>
            </a:r>
          </a:p>
          <a:p>
            <a:r>
              <a:rPr lang="en-IN" sz="1600" b="1" dirty="0"/>
              <a:t>Zero Data Leakage Architecture</a:t>
            </a:r>
            <a:r>
              <a:rPr lang="en-IN" sz="1600" dirty="0"/>
              <a:t>: Enforces 0% entity overlap between Train, Validation, and Test splits.</a:t>
            </a:r>
          </a:p>
          <a:p>
            <a:r>
              <a:rPr lang="en-IN" sz="1600" b="1" dirty="0"/>
              <a:t>Explainable AI (XAI) Diagnosis Cards</a:t>
            </a:r>
            <a:r>
              <a:rPr lang="en-IN" sz="1600" dirty="0"/>
              <a:t>: Generates dynamic threat definitions, root-cause bullet points, and percentage feature attributions for SOC analysts.</a:t>
            </a:r>
            <a:endParaRPr lang="en-IN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Technical Architecture &amp; Implementation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902D39-9ED7-E03A-121F-54A60105F954}"/>
              </a:ext>
            </a:extLst>
          </p:cNvPr>
          <p:cNvSpPr txBox="1"/>
          <p:nvPr/>
        </p:nvSpPr>
        <p:spPr>
          <a:xfrm>
            <a:off x="214232" y="1086231"/>
            <a:ext cx="115983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Technologies Used</a:t>
            </a:r>
          </a:p>
          <a:p>
            <a:r>
              <a:rPr lang="en-IN" b="1" dirty="0"/>
              <a:t>Programming Languages &amp; AI/ML Frameworks</a:t>
            </a:r>
            <a:r>
              <a:rPr lang="en-IN" dirty="0"/>
              <a:t>: Python 3.10+, </a:t>
            </a:r>
            <a:r>
              <a:rPr lang="en-IN" dirty="0" err="1"/>
              <a:t>PyTorch</a:t>
            </a:r>
            <a:r>
              <a:rPr lang="en-IN" dirty="0"/>
              <a:t> 2.0+ (LSTM Autoencoder), </a:t>
            </a:r>
            <a:r>
              <a:rPr lang="en-IN" dirty="0" err="1"/>
              <a:t>XGBoost</a:t>
            </a:r>
            <a:r>
              <a:rPr lang="en-IN" dirty="0"/>
              <a:t> 2.0+ (Gradient Boosted Trees), Scikit-Learn 1.4+ (</a:t>
            </a:r>
            <a:r>
              <a:rPr lang="en-IN" dirty="0" err="1"/>
              <a:t>IsolationForest</a:t>
            </a:r>
            <a:r>
              <a:rPr lang="en-IN" dirty="0"/>
              <a:t>, </a:t>
            </a:r>
            <a:r>
              <a:rPr lang="en-IN" dirty="0" err="1"/>
              <a:t>StandardScaler</a:t>
            </a:r>
            <a:r>
              <a:rPr lang="en-IN" dirty="0"/>
              <a:t>).</a:t>
            </a:r>
          </a:p>
          <a:p>
            <a:r>
              <a:rPr lang="en-IN" b="1" dirty="0"/>
              <a:t>Data Processing &amp; Oversampling</a:t>
            </a:r>
            <a:r>
              <a:rPr lang="en-IN" dirty="0"/>
              <a:t>: Imbalanced-Learn (SMOTE), Pandas, NumPy, Faker (Synthetic Telemetry Generator).</a:t>
            </a:r>
          </a:p>
          <a:p>
            <a:r>
              <a:rPr lang="en-IN" b="1" dirty="0"/>
              <a:t>Web Application &amp; Streaming API</a:t>
            </a:r>
            <a:r>
              <a:rPr lang="en-IN" dirty="0"/>
              <a:t>: Python </a:t>
            </a:r>
            <a:r>
              <a:rPr lang="en-IN" dirty="0" err="1"/>
              <a:t>http.server</a:t>
            </a:r>
            <a:r>
              <a:rPr lang="en-IN" dirty="0"/>
              <a:t> (Native REST API Server), HTML5/CSS3/Vanilla JS (SOC Analyst Dashboard).</a:t>
            </a:r>
          </a:p>
          <a:p>
            <a:r>
              <a:rPr lang="en-IN" b="1" dirty="0"/>
              <a:t>Model Serialization &amp; Testing</a:t>
            </a:r>
            <a:r>
              <a:rPr lang="en-IN" dirty="0"/>
              <a:t>: </a:t>
            </a:r>
            <a:r>
              <a:rPr lang="en-IN" dirty="0" err="1"/>
              <a:t>Joblib</a:t>
            </a:r>
            <a:r>
              <a:rPr lang="en-IN" dirty="0"/>
              <a:t>, </a:t>
            </a:r>
            <a:r>
              <a:rPr lang="en-IN" dirty="0" err="1"/>
              <a:t>PyTorch</a:t>
            </a:r>
            <a:r>
              <a:rPr lang="en-IN" dirty="0"/>
              <a:t> .</a:t>
            </a:r>
            <a:r>
              <a:rPr lang="en-IN" dirty="0" err="1"/>
              <a:t>pth</a:t>
            </a:r>
            <a:r>
              <a:rPr lang="en-IN" dirty="0"/>
              <a:t>, JSON Metadata, </a:t>
            </a:r>
            <a:r>
              <a:rPr lang="en-IN" dirty="0" err="1"/>
              <a:t>Pytest</a:t>
            </a:r>
            <a:r>
              <a:rPr lang="en-IN" dirty="0"/>
              <a:t> (8/8 Unit Tests Passed).</a:t>
            </a:r>
          </a:p>
          <a:p>
            <a:endParaRPr lang="en-IN" dirty="0"/>
          </a:p>
          <a:p>
            <a:r>
              <a:rPr lang="en-IN" dirty="0"/>
              <a:t>2. Methodology &amp; Implementation Process</a:t>
            </a:r>
          </a:p>
          <a:p>
            <a:r>
              <a:rPr lang="en-IN" b="1" dirty="0"/>
              <a:t>Synthetic Telemetry Generation</a:t>
            </a:r>
            <a:r>
              <a:rPr lang="en-IN" dirty="0"/>
              <a:t>: Built 28,257 events across 165 entities using enterprise access log schemas (</a:t>
            </a:r>
            <a:r>
              <a:rPr lang="en-IN" dirty="0" err="1"/>
              <a:t>entity_id</a:t>
            </a:r>
            <a:r>
              <a:rPr lang="en-IN" dirty="0"/>
              <a:t>, timestamp, </a:t>
            </a:r>
            <a:r>
              <a:rPr lang="en-IN" dirty="0" err="1"/>
              <a:t>geo_location</a:t>
            </a:r>
            <a:r>
              <a:rPr lang="en-IN" dirty="0"/>
              <a:t>, </a:t>
            </a:r>
            <a:r>
              <a:rPr lang="en-IN" dirty="0" err="1"/>
              <a:t>resource_accessed</a:t>
            </a:r>
            <a:r>
              <a:rPr lang="en-IN" dirty="0"/>
              <a:t>, </a:t>
            </a:r>
            <a:r>
              <a:rPr lang="en-IN" dirty="0" err="1"/>
              <a:t>auth_method</a:t>
            </a:r>
            <a:r>
              <a:rPr lang="en-IN" dirty="0"/>
              <a:t>, </a:t>
            </a:r>
            <a:r>
              <a:rPr lang="en-IN" dirty="0" err="1"/>
              <a:t>device_fingerprint</a:t>
            </a:r>
            <a:r>
              <a:rPr lang="en-IN" dirty="0"/>
              <a:t>).</a:t>
            </a:r>
          </a:p>
          <a:p>
            <a:r>
              <a:rPr lang="en-IN" b="1" dirty="0"/>
              <a:t>Causal Feature Engineering</a:t>
            </a:r>
            <a:r>
              <a:rPr lang="en-IN" dirty="0"/>
              <a:t>: Extracted 45 temporal, geographic, failure burst, fingerprint shift, resource edge, exfiltration volume, and drift features.</a:t>
            </a:r>
          </a:p>
          <a:p>
            <a:r>
              <a:rPr lang="en-IN" b="1" dirty="0"/>
              <a:t>Decoupled Two-Stage Model Fitting</a:t>
            </a:r>
            <a:r>
              <a:rPr lang="en-IN" dirty="0"/>
              <a:t>: Fitted scaler, </a:t>
            </a:r>
            <a:r>
              <a:rPr lang="en-IN" dirty="0" err="1"/>
              <a:t>IsolationForest</a:t>
            </a:r>
            <a:r>
              <a:rPr lang="en-IN" dirty="0"/>
              <a:t>, </a:t>
            </a:r>
            <a:r>
              <a:rPr lang="en-IN" dirty="0" err="1"/>
              <a:t>PyTorch</a:t>
            </a:r>
            <a:r>
              <a:rPr lang="en-IN" dirty="0"/>
              <a:t> LSTM, calibrated Stage-1 threshold (T = 32.0), and trained </a:t>
            </a:r>
            <a:r>
              <a:rPr lang="en-IN" dirty="0" err="1"/>
              <a:t>XGBoost</a:t>
            </a:r>
            <a:r>
              <a:rPr lang="en-IN" dirty="0"/>
              <a:t>; serialized frozen artifacts to models/.</a:t>
            </a:r>
          </a:p>
          <a:p>
            <a:r>
              <a:rPr lang="en-IN" b="1" dirty="0"/>
              <a:t>Frozen Evaluation</a:t>
            </a:r>
            <a:r>
              <a:rPr lang="en-IN" dirty="0"/>
              <a:t>: Conducted pure inference on held-out test split (26 test entities, 4,481 logs, </a:t>
            </a:r>
            <a:r>
              <a:rPr lang="en-IN" b="1" dirty="0"/>
              <a:t>0% entity overlap</a:t>
            </a:r>
            <a:r>
              <a:rPr lang="en-IN" dirty="0"/>
              <a:t>).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9D471-150E-7A78-C0FA-08D36D3F3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9F12B2E9-2FB4-FF3F-AC36-A26CD8C3A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96" y="0"/>
            <a:ext cx="6193536" cy="513969"/>
          </a:xfrm>
        </p:spPr>
        <p:txBody>
          <a:bodyPr/>
          <a:lstStyle/>
          <a:p>
            <a:r>
              <a:rPr lang="en-IN" sz="2000" b="1" dirty="0"/>
              <a:t>Technical Architecture &amp; Implementation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B682E-E45E-9E2B-E608-E1C8A139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C242F2-C65B-757B-0F48-AF624480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90BDBC-008E-C061-2E2B-67023B4E01ED}"/>
              </a:ext>
            </a:extLst>
          </p:cNvPr>
          <p:cNvSpPr txBox="1"/>
          <p:nvPr/>
        </p:nvSpPr>
        <p:spPr>
          <a:xfrm>
            <a:off x="0" y="466344"/>
            <a:ext cx="953562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 Step 1: Read the Data (Input)</a:t>
            </a:r>
            <a:endParaRPr lang="en-IN" dirty="0"/>
          </a:p>
          <a:p>
            <a:pPr lvl="1"/>
            <a:r>
              <a:rPr lang="en-IN" dirty="0"/>
              <a:t>The system receives user login data (login time, IP address, city, device type, password success/failure).</a:t>
            </a:r>
          </a:p>
          <a:p>
            <a:pPr lvl="1"/>
            <a:r>
              <a:rPr lang="en-IN" dirty="0"/>
              <a:t>It cleans and prepares the data.</a:t>
            </a:r>
          </a:p>
          <a:p>
            <a:r>
              <a:rPr lang="en-IN" b="1" dirty="0"/>
              <a:t> Step 2: Calculate Key Clues (Features)</a:t>
            </a:r>
            <a:endParaRPr lang="en-IN" dirty="0"/>
          </a:p>
          <a:p>
            <a:pPr lvl="1"/>
            <a:r>
              <a:rPr lang="en-IN" dirty="0"/>
              <a:t>It calculates 45 numbers, such as: how fast the user moved, how many passwords failed, if the device changed, or if a secret file was opened.</a:t>
            </a:r>
          </a:p>
          <a:p>
            <a:r>
              <a:rPr lang="en-IN" b="1" dirty="0"/>
              <a:t> Step 3: Check for Anything Strange (Stage-1 Anomaly Detection)</a:t>
            </a:r>
            <a:endParaRPr lang="en-IN" dirty="0"/>
          </a:p>
          <a:p>
            <a:pPr lvl="1"/>
            <a:r>
              <a:rPr lang="en-IN" dirty="0"/>
              <a:t>AI models (Isolation Forest + LSTM) compare this login to normal user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It creates a </a:t>
            </a:r>
            <a:r>
              <a:rPr lang="en-IN" b="1" dirty="0"/>
              <a:t>Risk Score from 0 to 100</a:t>
            </a:r>
            <a:r>
              <a:rPr lang="en-IN" dirty="0"/>
              <a:t>.</a:t>
            </a:r>
          </a:p>
          <a:p>
            <a:r>
              <a:rPr lang="en-IN" b="1" dirty="0"/>
              <a:t>Step 4: Is the Risk High? (Decision)</a:t>
            </a:r>
            <a:endParaRPr lang="en-IN" dirty="0"/>
          </a:p>
          <a:p>
            <a:pPr lvl="1"/>
            <a:r>
              <a:rPr lang="en-IN" b="1" dirty="0"/>
              <a:t>No (Risk &lt; 32)</a:t>
            </a:r>
            <a:r>
              <a:rPr lang="en-IN" dirty="0"/>
              <a:t> It is </a:t>
            </a:r>
            <a:r>
              <a:rPr lang="en-IN" b="1" dirty="0"/>
              <a:t>Normal</a:t>
            </a:r>
            <a:r>
              <a:rPr lang="en-IN" dirty="0"/>
              <a:t>. No alert is created.</a:t>
            </a:r>
          </a:p>
          <a:p>
            <a:pPr lvl="1"/>
            <a:r>
              <a:rPr lang="en-IN" b="1" dirty="0"/>
              <a:t>Yes (Risk &gt; 32)</a:t>
            </a:r>
            <a:r>
              <a:rPr lang="en-IN" dirty="0"/>
              <a:t> It is </a:t>
            </a:r>
            <a:r>
              <a:rPr lang="en-IN" b="1" dirty="0"/>
              <a:t>Suspicious!</a:t>
            </a:r>
            <a:r>
              <a:rPr lang="en-IN" dirty="0"/>
              <a:t> Pass to Step 5.</a:t>
            </a:r>
          </a:p>
          <a:p>
            <a:r>
              <a:rPr lang="en-IN" b="1" dirty="0"/>
              <a:t>Step 5: Identify the Attack Type (Stage-2 Classification)</a:t>
            </a:r>
            <a:endParaRPr lang="en-IN" dirty="0"/>
          </a:p>
          <a:p>
            <a:pPr lvl="1"/>
            <a:r>
              <a:rPr lang="en-IN" dirty="0"/>
              <a:t>An </a:t>
            </a:r>
            <a:r>
              <a:rPr lang="en-IN" dirty="0" err="1"/>
              <a:t>XGBoost</a:t>
            </a:r>
            <a:r>
              <a:rPr lang="en-IN" dirty="0"/>
              <a:t> AI model determines </a:t>
            </a:r>
            <a:r>
              <a:rPr lang="en-IN" b="1" dirty="0"/>
              <a:t>which exact attack</a:t>
            </a:r>
            <a:r>
              <a:rPr lang="en-IN" dirty="0"/>
              <a:t> it looks like:</a:t>
            </a:r>
          </a:p>
          <a:p>
            <a:pPr lvl="2"/>
            <a:r>
              <a:rPr lang="en-IN" i="1" dirty="0"/>
              <a:t>Brute Force</a:t>
            </a:r>
            <a:r>
              <a:rPr lang="en-IN" dirty="0"/>
              <a:t> (many wrong passwords)</a:t>
            </a:r>
          </a:p>
          <a:p>
            <a:pPr lvl="2"/>
            <a:r>
              <a:rPr lang="en-IN" i="1" dirty="0"/>
              <a:t>Impossible Travel</a:t>
            </a:r>
            <a:r>
              <a:rPr lang="en-IN" dirty="0"/>
              <a:t> (login from 2 far cities in 20 minutes)</a:t>
            </a:r>
          </a:p>
          <a:p>
            <a:pPr lvl="2"/>
            <a:r>
              <a:rPr lang="en-IN" i="1" dirty="0"/>
              <a:t>Device Spoofing</a:t>
            </a:r>
            <a:r>
              <a:rPr lang="en-IN" dirty="0"/>
              <a:t> (fake device ID)</a:t>
            </a:r>
          </a:p>
          <a:p>
            <a:pPr lvl="2"/>
            <a:r>
              <a:rPr lang="en-IN" i="1" dirty="0"/>
              <a:t>Lateral Movement</a:t>
            </a:r>
            <a:r>
              <a:rPr lang="en-IN" dirty="0"/>
              <a:t> (trying to access secret admin files)</a:t>
            </a:r>
          </a:p>
          <a:p>
            <a:r>
              <a:rPr lang="en-IN" b="1" dirty="0"/>
              <a:t>Step 6: Explain Why &amp; Show Alert (Dashboard Output)</a:t>
            </a:r>
            <a:endParaRPr lang="en-IN" dirty="0"/>
          </a:p>
          <a:p>
            <a:pPr lvl="1"/>
            <a:r>
              <a:rPr lang="en-IN" dirty="0"/>
              <a:t>The system sends an alert to the Security Analyst Dashboard.</a:t>
            </a:r>
          </a:p>
          <a:p>
            <a:pPr lvl="1"/>
            <a:r>
              <a:rPr lang="en-IN" dirty="0"/>
              <a:t>It tells the analyst </a:t>
            </a:r>
            <a:r>
              <a:rPr lang="en-IN" b="1" dirty="0"/>
              <a:t>the risk score</a:t>
            </a:r>
            <a:r>
              <a:rPr lang="en-IN" dirty="0"/>
              <a:t>, </a:t>
            </a:r>
            <a:r>
              <a:rPr lang="en-IN" b="1" dirty="0"/>
              <a:t>the attack type</a:t>
            </a:r>
            <a:r>
              <a:rPr lang="en-IN" dirty="0"/>
              <a:t>, and </a:t>
            </a:r>
            <a:r>
              <a:rPr lang="en-IN" b="1" dirty="0"/>
              <a:t>the exact reason why</a:t>
            </a:r>
            <a:r>
              <a:rPr lang="en-IN" dirty="0"/>
              <a:t> 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F3FA2C-2D84-8F40-FEB1-D572F42F4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624" y="0"/>
            <a:ext cx="1858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69392" y="904501"/>
            <a:ext cx="11113008" cy="581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dirty="0"/>
              <a:t>1. Analysis of Feasibility &amp; Viability</a:t>
            </a:r>
          </a:p>
          <a:p>
            <a:r>
              <a:rPr lang="en-IN" b="1" dirty="0"/>
              <a:t>High Computational Efficiency</a:t>
            </a:r>
            <a:r>
              <a:rPr lang="en-IN" dirty="0"/>
              <a:t>: Decoupled Stage-1/Stage-2 architecture filters ~98% of benign traffic using fast tree and matrix operations, invoking heavy </a:t>
            </a:r>
            <a:r>
              <a:rPr lang="en-IN" dirty="0" err="1"/>
              <a:t>XGBoost</a:t>
            </a:r>
            <a:r>
              <a:rPr lang="en-IN" dirty="0"/>
              <a:t> classification </a:t>
            </a:r>
            <a:r>
              <a:rPr lang="en-IN" b="1" dirty="0"/>
              <a:t>only</a:t>
            </a:r>
            <a:r>
              <a:rPr lang="en-IN" dirty="0"/>
              <a:t> on flagged anomalies (~2% of traffic).</a:t>
            </a:r>
          </a:p>
          <a:p>
            <a:r>
              <a:rPr lang="en-IN" b="1" dirty="0"/>
              <a:t>Low Operational Overhead</a:t>
            </a:r>
            <a:r>
              <a:rPr lang="en-IN" dirty="0"/>
              <a:t>: 2.45% False Positive Rate prevents analyst alert fatigue.</a:t>
            </a:r>
          </a:p>
          <a:p>
            <a:r>
              <a:rPr lang="en-IN" b="1" dirty="0"/>
              <a:t>Real-Time Integration Feasibility</a:t>
            </a:r>
            <a:r>
              <a:rPr lang="en-IN" dirty="0"/>
              <a:t>: Native HTTP REST API (http://localhost:5000/api/evaluate_single) enables seamless streaming integration into existing SIEM platforms (Splunk, Microsoft Sentinel).</a:t>
            </a:r>
          </a:p>
          <a:p>
            <a:endParaRPr lang="en-IN" dirty="0"/>
          </a:p>
          <a:p>
            <a:r>
              <a:rPr lang="en-IN" sz="2800" dirty="0"/>
              <a:t>2. Potential Challenges &amp; Risks</a:t>
            </a:r>
          </a:p>
          <a:p>
            <a:r>
              <a:rPr lang="en-IN" b="1" dirty="0"/>
              <a:t>Cold-Start False Positives</a:t>
            </a:r>
            <a:r>
              <a:rPr lang="en-IN" dirty="0"/>
              <a:t>: Brand-new users/devices lacking historical baselines triggering false alarms.</a:t>
            </a:r>
          </a:p>
          <a:p>
            <a:r>
              <a:rPr lang="en-IN" b="1" dirty="0"/>
              <a:t>Concept Drift</a:t>
            </a:r>
            <a:r>
              <a:rPr lang="en-IN" dirty="0"/>
              <a:t>: Evolving employee work schedules or legitimate role changes causing false risk inflation.</a:t>
            </a:r>
          </a:p>
          <a:p>
            <a:r>
              <a:rPr lang="en-IN" b="1" dirty="0"/>
              <a:t>Class Imbalance Bias</a:t>
            </a:r>
            <a:r>
              <a:rPr lang="en-IN" dirty="0"/>
              <a:t>: Rare attack categories being underrepresented during training.</a:t>
            </a:r>
          </a:p>
          <a:p>
            <a:endParaRPr lang="en-IN" dirty="0"/>
          </a:p>
          <a:p>
            <a:r>
              <a:rPr lang="en-IN" sz="2800" dirty="0"/>
              <a:t>3. Strategies for Overcoming Challenges</a:t>
            </a:r>
          </a:p>
          <a:p>
            <a:r>
              <a:rPr lang="en-IN" b="1" dirty="0"/>
              <a:t>Peer Group Baseline Profiling</a:t>
            </a:r>
            <a:r>
              <a:rPr lang="en-IN" dirty="0"/>
              <a:t>: </a:t>
            </a:r>
            <a:r>
              <a:rPr lang="en-IN" dirty="0" err="1"/>
              <a:t>ColdStartEngine</a:t>
            </a:r>
            <a:r>
              <a:rPr lang="en-IN" dirty="0"/>
              <a:t> evaluates new entities against population peer distributions rather than penalizing missing history.</a:t>
            </a:r>
          </a:p>
          <a:p>
            <a:r>
              <a:rPr lang="en-IN" b="1" dirty="0"/>
              <a:t>Rolling Baseline Window &amp; Feedback Loop</a:t>
            </a:r>
            <a:r>
              <a:rPr lang="en-IN" dirty="0"/>
              <a:t>: Rolling 7d/30d windows and analyst feedback API (POST /</a:t>
            </a:r>
            <a:r>
              <a:rPr lang="en-IN" dirty="0" err="1"/>
              <a:t>api</a:t>
            </a:r>
            <a:r>
              <a:rPr lang="en-IN" dirty="0"/>
              <a:t>/feedback) dynamically adjust drift boundaries.</a:t>
            </a:r>
          </a:p>
          <a:p>
            <a:r>
              <a:rPr lang="en-IN" b="1" dirty="0"/>
              <a:t>Stage-2 Targeted SMOTE</a:t>
            </a:r>
            <a:r>
              <a:rPr lang="en-IN" dirty="0"/>
              <a:t>: Synthetic oversampling balances rare attack categories without distorting natural Stage-1 baseline streams.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92" y="4379891"/>
            <a:ext cx="2033016" cy="742569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7F080-BC31-682A-66EB-FB3F178CD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74"/>
            <a:ext cx="7004304" cy="36653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C920FA-08B8-9334-6198-3F2CC977D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416" y="3011080"/>
            <a:ext cx="6107970" cy="37959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4912B9-8366-EA58-99FE-99D8ED63F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6618" y="-315357"/>
            <a:ext cx="2994453" cy="36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7710</TotalTime>
  <Words>1107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Aegis AI — Two-Stage Behavioral Anomaly Detection &amp; Threat Classification Architecture</vt:lpstr>
      <vt:lpstr>Technical Architecture &amp; Implementation Methodology</vt:lpstr>
      <vt:lpstr>Technical Architecture &amp; Implementation Methodology</vt:lpstr>
      <vt:lpstr>FEASIBILITY AND VIABILITY</vt:lpstr>
      <vt:lpstr>ARTIFACTS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Abhinav Gupta</cp:lastModifiedBy>
  <cp:revision>159</cp:revision>
  <dcterms:created xsi:type="dcterms:W3CDTF">2013-12-12T18:46:50Z</dcterms:created>
  <dcterms:modified xsi:type="dcterms:W3CDTF">2026-07-26T18:08:21Z</dcterms:modified>
  <cp:category/>
</cp:coreProperties>
</file>